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D3C8"/>
    <a:srgbClr val="F0A1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E6233-FBB6-EC87-7364-AE6D403AF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DCFAC6-F76D-D309-868E-689AE9033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ECA7A4-8F69-B103-634C-FA0C5936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60ADE4-4617-2263-2A56-20FB127F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216FFB-4C91-FF5E-2868-BCDDCADC7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2666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6017C-BC72-0C49-156B-4F3E5E287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C2086-2B05-E860-A0CF-AB409EAD6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2AF018-3CE6-6A52-E2AB-354068E21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9A8695-B24A-FEA8-4C10-650E7C8F3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408C07-60B4-E7D5-635A-B794E3EA8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764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CDA30-0FC2-D000-22D8-EC5AD6107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3BBDD8-D610-E1C9-301B-AE8DE552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9CC9E-776F-BB14-2EB9-1920BDAA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D55AEC-5C7A-0113-51AC-070823875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95D8FA-A841-F59C-330C-D361FB8D1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4382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E1325-F463-F4AF-D212-439AD1BDE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E058A5-502E-3AAA-AE69-CDB0475B9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1ADF10-B76F-699C-5239-A77B80470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2B56FA-B574-8A94-1FFA-72EC222DF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20716F-A4B8-AD21-9EA3-0DF811BCF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30C6CA7-FED4-A7D2-159C-5A1F8FDB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3300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D609F-D6C6-C1BD-B6CC-888C36EC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BD521C-57D2-8CF3-65B3-DEBBF7FB3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FE0671-55E3-442F-B36C-BE602573D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47611A7-519C-C1AE-7BB9-87DF7DCC8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76F03E4-CC0D-D25A-AB48-3FCBB3D65D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E3261C-8912-23ED-AE0C-6D459757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166054D-4B81-1259-DE37-FA85DFCE6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2236DA-83B8-9069-6989-88182970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34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CDC8F-0E33-412F-9D4C-3F0F49C75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B1EF5AE-4974-0458-C383-01CFE2FCD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6B5D424-2F87-FCE1-1D87-FB6A47C56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33FA04-B704-A609-D0A4-C50574A95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3914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98AEE76-B1BB-D12B-B567-04D1AADC4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7C0196-25D3-CA62-32BB-10E48667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E08283-2CA0-C496-6D8E-B1963F5E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827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F8C5AD-B1B7-B003-FE0E-8F13AA141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58BB22-24C0-0342-AAED-D54E98C7E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FF16A8-6E63-318C-B905-76C02223B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24202E-4B72-E67A-4BB3-54C70ECFC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27E0111-76AA-2458-47A7-95A08311D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BC7C6-339E-31A2-66C3-8EDE690D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63670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9644D-239F-F47D-6B52-9564E22D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96732E-5666-BA62-6B8B-2627B00770B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D9B188-A5CA-2DBF-2045-9F205A0A5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AD5462-C0DB-9878-BDCE-F8B615E53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0C8A39-5917-D107-8959-B8D833E65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32D0C4-679E-1523-5583-6240068D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989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2AD86-33E2-6D3C-4622-064191AF4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2C5564A-2EFB-38D5-0638-B0FE90CF6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9C0323-5A7E-98AF-B5FB-41E8D6BC2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0F8106-82EA-9D53-0E8D-8C643D1C5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522962-6F4B-5775-AD4B-C1A45460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0909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B85E146-9144-D94C-8B0B-0A9F03586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22FC5A-B1AF-E32E-A626-C96129C15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F7F3CB-B55B-E2E0-33C2-03091796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355C60-6AB4-63EB-31BF-88DB1AB6F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79D0DF-2569-EEC6-1147-10459D140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8460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2748492-9367-5194-E8AC-3EE6AF1D7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850F07-5E7F-2918-0026-6B32FEF1A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1809F2-157C-F336-88F4-BBCC8B8918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3F07CD-B038-49AC-90E0-590270DBEB6A}" type="datetimeFigureOut">
              <a:rPr lang="es-CL" smtClean="0"/>
              <a:t>24-10-2026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198F1F-26E4-1632-7782-D39BDABEA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8D9786-FF08-F43A-8A5F-6777D37B6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5FAE3-C865-49F0-94E9-6625ABADC6C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2469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FBCC29-014B-FA35-99B3-F9F447F708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/>
              <a:t>Arquitectura proyecto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5AEED9-0E27-14B6-46AC-4CA133C2F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407EED-665D-D370-AED1-DF44C7F570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03" t="11161" r="23389" b="26535"/>
          <a:stretch>
            <a:fillRect/>
          </a:stretch>
        </p:blipFill>
        <p:spPr>
          <a:xfrm>
            <a:off x="5011572" y="330047"/>
            <a:ext cx="2382287" cy="228533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5515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72F16-EE6D-7ADB-D30C-BCBFBD89B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dirty="0"/>
              <a:t>Pre base 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C37A462-1DD1-11D7-B0F4-2E38C9BDCC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13" y="1271205"/>
            <a:ext cx="7491374" cy="499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640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3E009DFA-245A-DEE8-7DA7-92AFBDEC443D}"/>
              </a:ext>
            </a:extLst>
          </p:cNvPr>
          <p:cNvSpPr/>
          <p:nvPr/>
        </p:nvSpPr>
        <p:spPr>
          <a:xfrm>
            <a:off x="104789" y="889231"/>
            <a:ext cx="1311361" cy="2660947"/>
          </a:xfrm>
          <a:prstGeom prst="roundRect">
            <a:avLst/>
          </a:prstGeom>
          <a:solidFill>
            <a:srgbClr val="68D3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Registra consultas y gestiona oportunidades</a:t>
            </a:r>
          </a:p>
          <a:p>
            <a:pPr algn="ctr"/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(Actor del proceso)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8E2F76A-DB8D-3BD6-8BBA-88E80D7A0233}"/>
              </a:ext>
            </a:extLst>
          </p:cNvPr>
          <p:cNvSpPr/>
          <p:nvPr/>
        </p:nvSpPr>
        <p:spPr>
          <a:xfrm>
            <a:off x="7849003" y="954672"/>
            <a:ext cx="1127876" cy="2401749"/>
          </a:xfrm>
          <a:prstGeom prst="roundRect">
            <a:avLst/>
          </a:prstGeom>
          <a:solidFill>
            <a:srgbClr val="68D3C8"/>
          </a:solidFill>
          <a:ln>
            <a:solidFill>
              <a:schemeClr val="accent1">
                <a:shade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Expone una operación de prueba mediante HTTP.</a:t>
            </a:r>
          </a:p>
          <a:p>
            <a:pPr algn="ctr"/>
            <a:endParaRPr lang="es-ES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(Estado: En desarrollo - Spring Boot)</a:t>
            </a:r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E0D05CD-C810-2E42-F591-F1C326356A8B}"/>
              </a:ext>
            </a:extLst>
          </p:cNvPr>
          <p:cNvSpPr/>
          <p:nvPr/>
        </p:nvSpPr>
        <p:spPr>
          <a:xfrm>
            <a:off x="5347154" y="935595"/>
            <a:ext cx="1025458" cy="2401749"/>
          </a:xfrm>
          <a:prstGeom prst="roundRect">
            <a:avLst/>
          </a:prstGeom>
          <a:solidFill>
            <a:srgbClr val="68D3C8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Obtiene el trabajo pendiente de Flowable y solicita la operación.</a:t>
            </a:r>
          </a:p>
          <a:p>
            <a:pPr algn="ctr"/>
            <a:endParaRPr lang="es-ES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(Estado: Planificado / En desarrollo)</a:t>
            </a:r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FAA967C-54FD-5E21-705C-DF5D655B1966}"/>
              </a:ext>
            </a:extLst>
          </p:cNvPr>
          <p:cNvSpPr/>
          <p:nvPr/>
        </p:nvSpPr>
        <p:spPr>
          <a:xfrm>
            <a:off x="10403236" y="981560"/>
            <a:ext cx="1277105" cy="2336475"/>
          </a:xfrm>
          <a:prstGeom prst="roundRect">
            <a:avLst/>
          </a:prstGeom>
          <a:solidFill>
            <a:srgbClr val="68D3C8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Almacena tablas preliminares leads y seguimientos.</a:t>
            </a:r>
          </a:p>
          <a:p>
            <a:pPr algn="ctr"/>
            <a:endParaRPr lang="es-ES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(Estado: En pruebas locales - XAMPP)</a:t>
            </a:r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B70C2FE-B921-55FB-7837-4D9A04A89E52}"/>
              </a:ext>
            </a:extLst>
          </p:cNvPr>
          <p:cNvSpPr/>
          <p:nvPr/>
        </p:nvSpPr>
        <p:spPr>
          <a:xfrm>
            <a:off x="2549044" y="902997"/>
            <a:ext cx="1127876" cy="2640840"/>
          </a:xfrm>
          <a:prstGeom prst="roundRect">
            <a:avLst/>
          </a:prstGeom>
          <a:solidFill>
            <a:srgbClr val="68D3C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Gestiona el flujo de trabajo</a:t>
            </a:r>
          </a:p>
          <a:p>
            <a:pPr algn="ctr"/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Formulario: captura de datos del lead </a:t>
            </a:r>
          </a:p>
          <a:p>
            <a:pPr algn="ctr"/>
            <a:endParaRPr lang="es-CL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L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(Estado: En modelado/ contingencia bpmn.io)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B937486-C263-2769-9F7E-8B667309A7B6}"/>
              </a:ext>
            </a:extLst>
          </p:cNvPr>
          <p:cNvSpPr txBox="1"/>
          <p:nvPr/>
        </p:nvSpPr>
        <p:spPr>
          <a:xfrm>
            <a:off x="-32886" y="444442"/>
            <a:ext cx="2581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Encargada del negocio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C56981C-F116-40DA-6DF7-899EA65182C4}"/>
              </a:ext>
            </a:extLst>
          </p:cNvPr>
          <p:cNvSpPr txBox="1"/>
          <p:nvPr/>
        </p:nvSpPr>
        <p:spPr>
          <a:xfrm>
            <a:off x="2213050" y="441153"/>
            <a:ext cx="27425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Flowable-Proceso BPMN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5EFD4BF-6EDE-DBA4-2194-1A65EBA93451}"/>
              </a:ext>
            </a:extLst>
          </p:cNvPr>
          <p:cNvSpPr txBox="1"/>
          <p:nvPr/>
        </p:nvSpPr>
        <p:spPr>
          <a:xfrm>
            <a:off x="4189674" y="421135"/>
            <a:ext cx="3282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Worker externo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4919C1BB-04CC-2CCC-C15C-2C3C028FF4AC}"/>
              </a:ext>
            </a:extLst>
          </p:cNvPr>
          <p:cNvSpPr txBox="1"/>
          <p:nvPr/>
        </p:nvSpPr>
        <p:spPr>
          <a:xfrm>
            <a:off x="7121976" y="439854"/>
            <a:ext cx="2581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Servicio web Java REST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55989D4F-77A8-1804-2815-F3C5E2E868F5}"/>
              </a:ext>
            </a:extLst>
          </p:cNvPr>
          <p:cNvSpPr txBox="1"/>
          <p:nvPr/>
        </p:nvSpPr>
        <p:spPr>
          <a:xfrm>
            <a:off x="9978950" y="472811"/>
            <a:ext cx="2581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b="1" dirty="0">
                <a:latin typeface="Arial" panose="020B0604020202020204" pitchFamily="34" charset="0"/>
                <a:cs typeface="Arial" panose="020B0604020202020204" pitchFamily="34" charset="0"/>
              </a:rPr>
              <a:t>Base de Datos MariaDB</a:t>
            </a:r>
          </a:p>
        </p:txBody>
      </p:sp>
      <p:sp>
        <p:nvSpPr>
          <p:cNvPr id="27" name="Flecha: a la derecha 26">
            <a:extLst>
              <a:ext uri="{FF2B5EF4-FFF2-40B4-BE49-F238E27FC236}">
                <a16:creationId xmlns:a16="http://schemas.microsoft.com/office/drawing/2014/main" id="{6E562EE0-6827-2E5A-049D-F6E6D5C79586}"/>
              </a:ext>
            </a:extLst>
          </p:cNvPr>
          <p:cNvSpPr/>
          <p:nvPr/>
        </p:nvSpPr>
        <p:spPr>
          <a:xfrm>
            <a:off x="1713926" y="2204660"/>
            <a:ext cx="321623" cy="12581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FAD49D2-FDD5-9C3B-2B08-BFE4D8A9C953}"/>
              </a:ext>
            </a:extLst>
          </p:cNvPr>
          <p:cNvSpPr txBox="1"/>
          <p:nvPr/>
        </p:nvSpPr>
        <p:spPr>
          <a:xfrm>
            <a:off x="1434776" y="1139885"/>
            <a:ext cx="943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HTTPS / Navegador web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AA8636EC-24B0-A3A6-8892-0F740E309875}"/>
              </a:ext>
            </a:extLst>
          </p:cNvPr>
          <p:cNvSpPr txBox="1"/>
          <p:nvPr/>
        </p:nvSpPr>
        <p:spPr>
          <a:xfrm>
            <a:off x="4011740" y="1055178"/>
            <a:ext cx="943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Consulta tareas externas / Devuelve resultado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E588E66-127C-0652-A287-8B7E70E58B93}"/>
              </a:ext>
            </a:extLst>
          </p:cNvPr>
          <p:cNvSpPr txBox="1"/>
          <p:nvPr/>
        </p:nvSpPr>
        <p:spPr>
          <a:xfrm>
            <a:off x="6564362" y="1147512"/>
            <a:ext cx="943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Petición HTTP (REST / JSON)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D8733BA-D963-3C61-B761-762FD298BC98}"/>
              </a:ext>
            </a:extLst>
          </p:cNvPr>
          <p:cNvSpPr txBox="1"/>
          <p:nvPr/>
        </p:nvSpPr>
        <p:spPr>
          <a:xfrm>
            <a:off x="9123727" y="1055180"/>
            <a:ext cx="9438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>
                <a:latin typeface="Arial" panose="020B0604020202020204" pitchFamily="34" charset="0"/>
                <a:cs typeface="Arial" panose="020B0604020202020204" pitchFamily="34" charset="0"/>
              </a:rPr>
              <a:t>Conexión BD (Lectura / Escritura de leads)</a:t>
            </a:r>
            <a:endParaRPr lang="es-CL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Flecha: a la derecha 43">
            <a:extLst>
              <a:ext uri="{FF2B5EF4-FFF2-40B4-BE49-F238E27FC236}">
                <a16:creationId xmlns:a16="http://schemas.microsoft.com/office/drawing/2014/main" id="{D5A96D73-BB8B-F189-47A7-1C189BC80C7C}"/>
              </a:ext>
            </a:extLst>
          </p:cNvPr>
          <p:cNvSpPr/>
          <p:nvPr/>
        </p:nvSpPr>
        <p:spPr>
          <a:xfrm>
            <a:off x="4351225" y="2239265"/>
            <a:ext cx="321623" cy="12581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6" name="Flecha: a la derecha 45">
            <a:extLst>
              <a:ext uri="{FF2B5EF4-FFF2-40B4-BE49-F238E27FC236}">
                <a16:creationId xmlns:a16="http://schemas.microsoft.com/office/drawing/2014/main" id="{63A888A4-79A3-DFDF-60CB-D48381B73013}"/>
              </a:ext>
            </a:extLst>
          </p:cNvPr>
          <p:cNvSpPr/>
          <p:nvPr/>
        </p:nvSpPr>
        <p:spPr>
          <a:xfrm>
            <a:off x="6885059" y="2155547"/>
            <a:ext cx="321623" cy="12581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8" name="Flecha: a la derecha 47">
            <a:extLst>
              <a:ext uri="{FF2B5EF4-FFF2-40B4-BE49-F238E27FC236}">
                <a16:creationId xmlns:a16="http://schemas.microsoft.com/office/drawing/2014/main" id="{0AF3DCB4-F3B9-2656-1E37-4C6C221D030E}"/>
              </a:ext>
            </a:extLst>
          </p:cNvPr>
          <p:cNvSpPr/>
          <p:nvPr/>
        </p:nvSpPr>
        <p:spPr>
          <a:xfrm>
            <a:off x="9382266" y="2218452"/>
            <a:ext cx="321623" cy="125811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CE974C3E-E026-D67D-950B-A0FCD44366F5}"/>
              </a:ext>
            </a:extLst>
          </p:cNvPr>
          <p:cNvSpPr/>
          <p:nvPr/>
        </p:nvSpPr>
        <p:spPr>
          <a:xfrm>
            <a:off x="10508219" y="4001728"/>
            <a:ext cx="1523392" cy="273828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200" b="1" u="sng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Leyenda</a:t>
            </a:r>
          </a:p>
          <a:p>
            <a:pPr algn="ctr"/>
            <a:endParaRPr lang="es-CL" sz="1200" b="1" u="sng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2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 sólido: </a:t>
            </a:r>
            <a:r>
              <a:rPr lang="es-E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Actor / Proceso base definido.</a:t>
            </a:r>
          </a:p>
          <a:p>
            <a:pPr algn="ctr"/>
            <a:r>
              <a:rPr lang="es-E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s-ES" sz="12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 punteado: </a:t>
            </a:r>
            <a:r>
              <a:rPr lang="es-E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técnicos en desarrollo individual (pendientes de integración).</a:t>
            </a:r>
          </a:p>
          <a:p>
            <a:pPr algn="ctr"/>
            <a:endParaRPr lang="es-CL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332EACC-31CD-8307-651C-0D1D038C1A0C}"/>
              </a:ext>
            </a:extLst>
          </p:cNvPr>
          <p:cNvSpPr txBox="1"/>
          <p:nvPr/>
        </p:nvSpPr>
        <p:spPr>
          <a:xfrm>
            <a:off x="4725457" y="6488668"/>
            <a:ext cx="2320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Primera versión</a:t>
            </a:r>
          </a:p>
        </p:txBody>
      </p:sp>
    </p:spTree>
    <p:extLst>
      <p:ext uri="{BB962C8B-B14F-4D97-AF65-F5344CB8AC3E}">
        <p14:creationId xmlns:p14="http://schemas.microsoft.com/office/powerpoint/2010/main" val="8671410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156</Words>
  <Application>Microsoft Office PowerPoint</Application>
  <PresentationFormat>Panorámica</PresentationFormat>
  <Paragraphs>39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Arquitectura proyecto </vt:lpstr>
      <vt:lpstr>Pre base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Constanza Nuñez Sanchez</dc:creator>
  <cp:lastModifiedBy>Constanza Nuñez Sanchez</cp:lastModifiedBy>
  <cp:revision>5</cp:revision>
  <dcterms:created xsi:type="dcterms:W3CDTF">2026-10-24T19:28:58Z</dcterms:created>
  <dcterms:modified xsi:type="dcterms:W3CDTF">2026-10-24T21:08:55Z</dcterms:modified>
</cp:coreProperties>
</file>